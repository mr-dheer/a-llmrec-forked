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74C7EC"/>
                </a:solidFill>
              </a:rPr>
              <a:t>Explaining the Experimental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CCCCDD"/>
                </a:solidFill>
              </a:rPr>
              <a:t>Two Questions from the Supervisor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56616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Q1:  How large is the dataset before preprocessing?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1148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Q2:  Are the 1/3/5/7/10-image experiments on the same users or different subsets?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CCCDD"/>
                </a:solidFill>
              </a:rPr>
              <a:t>Luxury_Beauty Dataset  |  SmolVLM2-2.2B  |  A-LLMRec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74C7EC"/>
                </a:solidFill>
              </a:rPr>
              <a:t>Q1: How Large Is the Raw Dataset?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DD"/>
                </a:solidFill>
              </a:rPr>
              <a:t>Before any filtering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5303520" cy="219456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9E2AF"/>
                </a:solidFill>
              </a:rPr>
              <a:t>Raw Amazon Luxury_Beauty 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74519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FFFFFF"/>
                </a:solidFill>
              </a:rPr>
              <a:t>Total interactions (rating ≥ 3):    494,621</a:t>
            </a:r>
          </a:p>
          <a:p>
            <a:pPr algn="l">
              <a:spcBef>
                <a:spcPts val="600"/>
              </a:spcBef>
            </a:pPr>
            <a:r>
              <a:rPr sz="1500" b="0" i="0">
                <a:solidFill>
                  <a:srgbClr val="FFFFFF"/>
                </a:solidFill>
              </a:rPr>
              <a:t>Unique users:                              358,608</a:t>
            </a:r>
          </a:p>
          <a:p>
            <a:pPr algn="l">
              <a:spcBef>
                <a:spcPts val="600"/>
              </a:spcBef>
            </a:pPr>
            <a:r>
              <a:rPr sz="1500" b="0" i="0">
                <a:solidFill>
                  <a:srgbClr val="FFFFFF"/>
                </a:solidFill>
              </a:rPr>
              <a:t>Unique items:                                11,843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303520" cy="219456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173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6E3A1"/>
                </a:solidFill>
              </a:rPr>
              <a:t>After Threshold Filter (≥ 4 interactions)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874519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FFFFFF"/>
                </a:solidFill>
              </a:rPr>
              <a:t>Total interactions:                        61,507</a:t>
            </a:r>
          </a:p>
          <a:p>
            <a:pPr algn="l">
              <a:spcBef>
                <a:spcPts val="600"/>
              </a:spcBef>
            </a:pPr>
            <a:r>
              <a:rPr sz="1500" b="0" i="0">
                <a:solidFill>
                  <a:srgbClr val="FFFFFF"/>
                </a:solidFill>
              </a:rPr>
              <a:t>Unique users:                                  9,930</a:t>
            </a:r>
          </a:p>
          <a:p>
            <a:pPr algn="l">
              <a:spcBef>
                <a:spcPts val="600"/>
              </a:spcBef>
            </a:pPr>
            <a:r>
              <a:rPr sz="1500" b="0" i="0">
                <a:solidFill>
                  <a:srgbClr val="FFFFFF"/>
                </a:solidFill>
              </a:rPr>
              <a:t>Unique items:                                  6,045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21031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74C7EC"/>
                </a:solidFill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30175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38BA8"/>
                </a:solidFill>
              </a:rPr>
              <a:t>97.2% of users dropped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749039"/>
            <a:ext cx="11247120" cy="164592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794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9E2AF"/>
                </a:solidFill>
              </a:rPr>
              <a:t>What the filter does: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2062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FFFFFF"/>
                </a:solidFill>
              </a:rPr>
              <a:t>A user is kept only if they have ≥ 4 interactions in the raw data</a:t>
            </a:r>
          </a:p>
          <a:p>
            <a:pPr algn="l">
              <a:spcBef>
                <a:spcPts val="600"/>
              </a:spcBef>
            </a:pPr>
            <a:r>
              <a:rPr sz="1500" b="0" i="0">
                <a:solidFill>
                  <a:srgbClr val="FFFFFF"/>
                </a:solidFill>
              </a:rPr>
              <a:t>An item is kept only if it was reviewed by ≥ 4 users in the raw data</a:t>
            </a:r>
          </a:p>
          <a:p>
            <a:pPr algn="l">
              <a:spcBef>
                <a:spcPts val="600"/>
              </a:spcBef>
            </a:pPr>
            <a:r>
              <a:rPr sz="1500" b="0" i="0">
                <a:solidFill>
                  <a:srgbClr val="F38BA8"/>
                </a:solidFill>
              </a:rPr>
              <a:t>Both conditions must be met — if either fails, that interaction is dropped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55321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CDD"/>
                </a:solidFill>
              </a:rPr>
              <a:t>Only reviews with rating ≥ 3 stars are counted for Beauty datasets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74C7EC"/>
                </a:solidFill>
              </a:rPr>
              <a:t>Q1: From 9,930 Users → 9,912 Test Samples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DD"/>
                </a:solidFill>
              </a:rPr>
              <a:t>How the final evaluation set is formed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11247120" cy="137160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9E2AF"/>
                </a:solidFill>
              </a:rPr>
              <a:t>For each user's interaction history (chronological order):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6858000" cy="685800"/>
          </a:xfrm>
          <a:prstGeom prst="rect">
            <a:avLst/>
          </a:prstGeom>
          <a:solidFill>
            <a:srgbClr val="313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9339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6E3A1"/>
                </a:solidFill>
              </a:rPr>
              <a:t>Training items  (all except last 2)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52360" y="1920240"/>
            <a:ext cx="1828800" cy="685800"/>
          </a:xfrm>
          <a:prstGeom prst="rect">
            <a:avLst/>
          </a:prstGeom>
          <a:solidFill>
            <a:srgbClr val="315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79" y="1965960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6E3A1"/>
                </a:solidFill>
              </a:rPr>
              <a:t>Validation
(2nd last)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18320" y="1920240"/>
            <a:ext cx="1920240" cy="685800"/>
          </a:xfrm>
          <a:prstGeom prst="rect">
            <a:avLst/>
          </a:prstGeom>
          <a:solidFill>
            <a:srgbClr val="553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64040" y="196596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38BA8"/>
                </a:solidFill>
              </a:rPr>
              <a:t>Test item ← predict this
(last item)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743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CDD"/>
                </a:solidFill>
              </a:rPr>
              <a:t>18 users skipped (no test item after split) → 9,912 final test users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246120"/>
            <a:ext cx="5303520" cy="301752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2918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9E2AF"/>
                </a:solidFill>
              </a:rPr>
              <a:t>History Length Distribution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749039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FFFFFF"/>
                </a:solidFill>
              </a:rPr>
              <a:t>Min history length:         2 items</a:t>
            </a:r>
          </a:p>
          <a:p>
            <a:pPr algn="l">
              <a:spcBef>
                <a:spcPts val="600"/>
              </a:spcBef>
            </a:pPr>
            <a:r>
              <a:rPr sz="1400" b="0" i="0">
                <a:solidFill>
                  <a:srgbClr val="FFFFFF"/>
                </a:solidFill>
              </a:rPr>
              <a:t>Max history length:       127 items</a:t>
            </a:r>
          </a:p>
          <a:p>
            <a:pPr algn="l">
              <a:spcBef>
                <a:spcPts val="600"/>
              </a:spcBef>
            </a:pPr>
            <a:r>
              <a:rPr sz="1400" b="0" i="0">
                <a:solidFill>
                  <a:srgbClr val="FFFFFF"/>
                </a:solidFill>
              </a:rPr>
              <a:t>Mean history length:      6.44 items</a:t>
            </a:r>
          </a:p>
          <a:p>
            <a:pPr algn="l">
              <a:spcBef>
                <a:spcPts val="600"/>
              </a:spcBef>
            </a:pPr>
            <a:r>
              <a:rPr sz="1400" b="1" i="0">
                <a:solidFill>
                  <a:srgbClr val="74C7EC"/>
                </a:solidFill>
              </a:rPr>
              <a:t>Median history length:   5 items</a:t>
            </a:r>
          </a:p>
          <a:p>
            <a:pPr algn="l">
              <a:spcBef>
                <a:spcPts val="600"/>
              </a:spcBef>
            </a:pPr>
            <a:r>
              <a:rPr sz="1400" b="0" i="0">
                <a:solidFill>
                  <a:srgbClr val="F38BA8"/>
                </a:solidFill>
              </a:rPr>
              <a:t>Users with ≤ 3 items:    4,385  (44.2%)</a:t>
            </a:r>
          </a:p>
          <a:p>
            <a:pPr algn="l">
              <a:spcBef>
                <a:spcPts val="600"/>
              </a:spcBef>
            </a:pPr>
            <a:r>
              <a:rPr sz="1400" b="0" i="0">
                <a:solidFill>
                  <a:srgbClr val="FFFFFF"/>
                </a:solidFill>
              </a:rPr>
              <a:t>Users with 4–6 items:    3,565  (36.0%)</a:t>
            </a:r>
          </a:p>
          <a:p>
            <a:pPr algn="l">
              <a:spcBef>
                <a:spcPts val="600"/>
              </a:spcBef>
            </a:pPr>
            <a:r>
              <a:rPr sz="1400" b="0" i="0">
                <a:solidFill>
                  <a:srgbClr val="FFFFFF"/>
                </a:solidFill>
              </a:rPr>
              <a:t>Users with ≥ 7 items:    1,962  (19.8%)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246120"/>
            <a:ext cx="5303520" cy="301752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2918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4C7EC"/>
                </a:solidFill>
              </a:rPr>
              <a:t>Key Insight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749039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FFFFFF"/>
                </a:solidFill>
              </a:rPr>
              <a:t>80% of users have 6 or fewer history items.</a:t>
            </a:r>
          </a:p>
          <a:p>
            <a:pPr algn="l">
              <a:spcBef>
                <a:spcPts val="600"/>
              </a:spcBef>
            </a:pPr>
            <a:r>
              <a:rPr sz="800" b="0" i="0">
                <a:solidFill>
                  <a:srgbClr val="FFFFFF"/>
                </a:solidFill>
              </a:rPr>
              <a:t/>
            </a:r>
          </a:p>
          <a:p>
            <a:pPr algn="l">
              <a:spcBef>
                <a:spcPts val="600"/>
              </a:spcBef>
            </a:pPr>
            <a:r>
              <a:rPr sz="1400" b="0" i="0">
                <a:solidFill>
                  <a:srgbClr val="CCCCDD"/>
                </a:solidFill>
              </a:rPr>
              <a:t>This becomes important when we ask:</a:t>
            </a:r>
          </a:p>
          <a:p>
            <a:pPr algn="l">
              <a:spcBef>
                <a:spcPts val="600"/>
              </a:spcBef>
            </a:pPr>
            <a:r>
              <a:rPr sz="1500" b="1" i="1">
                <a:solidFill>
                  <a:srgbClr val="F9E2AF"/>
                </a:solidFill>
              </a:rPr>
              <a:t>"How many images should we pass?"</a:t>
            </a:r>
          </a:p>
          <a:p>
            <a:pPr algn="l">
              <a:spcBef>
                <a:spcPts val="600"/>
              </a:spcBef>
            </a:pPr>
            <a:r>
              <a:rPr sz="800" b="0" i="0">
                <a:solidFill>
                  <a:srgbClr val="FFFFFF"/>
                </a:solidFill>
              </a:rPr>
              <a:t/>
            </a:r>
          </a:p>
          <a:p>
            <a:pPr algn="l">
              <a:spcBef>
                <a:spcPts val="600"/>
              </a:spcBef>
            </a:pPr>
            <a:r>
              <a:rPr sz="1400" b="0" i="0">
                <a:solidFill>
                  <a:srgbClr val="FFFFFF"/>
                </a:solidFill>
              </a:rPr>
              <a:t>Most users simply do not have more than 5–6 products in their history to draw images from.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74C7EC"/>
                </a:solidFill>
              </a:rPr>
              <a:t>Q2: Are the N=1/3/5/7/10 Experiments on Different Subsets?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DD"/>
                </a:solidFill>
              </a:rPr>
              <a:t>Short answer: No — all experiments evaluate on the exact same 9,912 users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11247120" cy="1005840"/>
          </a:xfrm>
          <a:prstGeom prst="rect">
            <a:avLst/>
          </a:prstGeom>
          <a:solidFill>
            <a:srgbClr val="1A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A6E3A1"/>
                </a:solidFill>
              </a:rPr>
              <a:t>All five experiments (N=1, 3, 5, 7, 10) use the SAME 9,912 test users, the SAME ground-truth next item, and the SAME 20 candidate items.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5146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DD"/>
                </a:solidFill>
              </a:rPr>
              <a:t>The only thing that changes between experiments is the number of product images passed to the model.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017520"/>
            <a:ext cx="3474720" cy="320040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063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6E3A1"/>
                </a:solidFill>
              </a:rPr>
              <a:t>Stays the same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2044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FFFFF"/>
                </a:solidFill>
              </a:rPr>
              <a:t>✓  9,912 test users</a:t>
            </a:r>
          </a:p>
          <a:p>
            <a:pPr algn="l">
              <a:spcBef>
                <a:spcPts val="600"/>
              </a:spcBef>
            </a:pPr>
            <a:r>
              <a:rPr sz="1300" b="0" i="0">
                <a:solidFill>
                  <a:srgbClr val="FFFFFF"/>
                </a:solidFill>
              </a:rPr>
              <a:t>✓  Ground truth next item</a:t>
            </a:r>
          </a:p>
          <a:p>
            <a:pPr algn="l">
              <a:spcBef>
                <a:spcPts val="600"/>
              </a:spcBef>
            </a:pPr>
            <a:r>
              <a:rPr sz="1300" b="0" i="0">
                <a:solidFill>
                  <a:srgbClr val="FFFFFF"/>
                </a:solidFill>
              </a:rPr>
              <a:t>✓  20 candidate items</a:t>
            </a:r>
          </a:p>
          <a:p>
            <a:pPr algn="l">
              <a:spcBef>
                <a:spcPts val="600"/>
              </a:spcBef>
            </a:pPr>
            <a:r>
              <a:rPr sz="1300" b="0" i="0">
                <a:solidFill>
                  <a:srgbClr val="FFFFFF"/>
                </a:solidFill>
              </a:rPr>
              <a:t>✓  User history sequence</a:t>
            </a:r>
          </a:p>
          <a:p>
            <a:pPr algn="l">
              <a:spcBef>
                <a:spcPts val="600"/>
              </a:spcBef>
            </a:pPr>
            <a:r>
              <a:rPr sz="1300" b="0" i="0">
                <a:solidFill>
                  <a:srgbClr val="FFFFFF"/>
                </a:solidFill>
              </a:rPr>
              <a:t>✓  Item titles in prompt</a:t>
            </a:r>
          </a:p>
          <a:p>
            <a:pPr algn="l">
              <a:spcBef>
                <a:spcPts val="600"/>
              </a:spcBef>
            </a:pPr>
            <a:r>
              <a:rPr sz="1300" b="0" i="0">
                <a:solidFill>
                  <a:srgbClr val="FFFFFF"/>
                </a:solidFill>
              </a:rPr>
              <a:t>✓  CF embeddings (SASRec)</a:t>
            </a:r>
          </a:p>
          <a:p>
            <a:pPr algn="l">
              <a:spcBef>
                <a:spcPts val="600"/>
              </a:spcBef>
            </a:pPr>
            <a:r>
              <a:rPr sz="1300" b="0" i="0">
                <a:solidFill>
                  <a:srgbClr val="FFFFFF"/>
                </a:solidFill>
              </a:rPr>
              <a:t>✓  Evaluation metric (HR@1)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3017520"/>
            <a:ext cx="3474720" cy="320040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3063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38BA8"/>
                </a:solidFill>
              </a:rPr>
              <a:t>Changes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352044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FFFFF"/>
                </a:solidFill>
              </a:rPr>
              <a:t>✗  Number of images passed</a:t>
            </a:r>
          </a:p>
          <a:p>
            <a:pPr algn="l">
              <a:spcBef>
                <a:spcPts val="600"/>
              </a:spcBef>
            </a:pPr>
            <a:r>
              <a:rPr sz="1300" b="0" i="0">
                <a:solidFill>
                  <a:srgbClr val="FFFFFF"/>
                </a:solidFill>
              </a:rPr>
              <a:t>✗  Which items get &lt;image&gt; token in prompt</a:t>
            </a:r>
          </a:p>
          <a:p>
            <a:pPr algn="l">
              <a:spcBef>
                <a:spcPts val="600"/>
              </a:spcBef>
            </a:pPr>
            <a:r>
              <a:rPr sz="1300" b="0" i="0">
                <a:solidFill>
                  <a:srgbClr val="FFFFFF"/>
                </a:solidFill>
              </a:rPr>
              <a:t>✗  Stage 2 trained model weights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3840" y="3017520"/>
            <a:ext cx="3931920" cy="320040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3063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9E2AF"/>
                </a:solidFill>
              </a:rPr>
              <a:t>No user filtering based on 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3520440"/>
            <a:ext cx="3566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FFFFF"/>
                </a:solidFill>
              </a:rPr>
              <a:t>A user with only 3 history items is still included in the N=10 experiment.</a:t>
            </a:r>
          </a:p>
          <a:p>
            <a:pPr algn="l">
              <a:spcBef>
                <a:spcPts val="600"/>
              </a:spcBef>
            </a:pPr>
            <a:r>
              <a:rPr sz="600" b="0" i="0">
                <a:solidFill>
                  <a:srgbClr val="FFFFFF"/>
                </a:solidFill>
              </a:rPr>
              <a:t/>
            </a:r>
          </a:p>
          <a:p>
            <a:pPr algn="l">
              <a:spcBef>
                <a:spcPts val="600"/>
              </a:spcBef>
            </a:pPr>
            <a:r>
              <a:rPr sz="1300" b="0" i="0">
                <a:solidFill>
                  <a:srgbClr val="A6E3A1"/>
                </a:solidFill>
              </a:rPr>
              <a:t>Users are never filtered out for having fewer items than 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74C7EC"/>
                </a:solidFill>
              </a:rPr>
              <a:t>How N Controls Which Items Get Images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DD"/>
                </a:solidFill>
              </a:rPr>
              <a:t>Images always attach to the most recently purchased N items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9E2AF"/>
                </a:solidFill>
              </a:rPr>
              <a:t>Example user — 5 purchases (chronological order):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737360"/>
            <a:ext cx="2103120" cy="64008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7830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Moisturiser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737360"/>
            <a:ext cx="2103120" cy="64008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97479" y="17830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Eye Cream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60" y="1737360"/>
            <a:ext cx="2103120" cy="64008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83480" y="17830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Face Serum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23760" y="1737360"/>
            <a:ext cx="2103120" cy="64008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69480" y="17830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Lip Gloss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509760" y="1737360"/>
            <a:ext cx="2103120" cy="64008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55480" y="17830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Hand Cream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245059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oldest 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245059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← most recent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0" y="2971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4C7EC"/>
                </a:solidFill>
              </a:rPr>
              <a:t>N = 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834640"/>
            <a:ext cx="2103120" cy="640080"/>
          </a:xfrm>
          <a:prstGeom prst="rect">
            <a:avLst/>
          </a:prstGeom>
          <a:solidFill>
            <a:srgbClr val="3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29260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DD"/>
                </a:solidFill>
              </a:rPr>
              <a:t>text only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51760" y="2834640"/>
            <a:ext cx="2103120" cy="640080"/>
          </a:xfrm>
          <a:prstGeom prst="rect">
            <a:avLst/>
          </a:prstGeom>
          <a:solidFill>
            <a:srgbClr val="3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97479" y="29260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DD"/>
                </a:solidFill>
              </a:rPr>
              <a:t>text only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37760" y="2834640"/>
            <a:ext cx="2103120" cy="640080"/>
          </a:xfrm>
          <a:prstGeom prst="rect">
            <a:avLst/>
          </a:prstGeom>
          <a:solidFill>
            <a:srgbClr val="3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83480" y="29260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DD"/>
                </a:solidFill>
              </a:rPr>
              <a:t>text only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23760" y="2834640"/>
            <a:ext cx="2103120" cy="640080"/>
          </a:xfrm>
          <a:prstGeom prst="rect">
            <a:avLst/>
          </a:prstGeom>
          <a:solidFill>
            <a:srgbClr val="3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69480" y="29260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DD"/>
                </a:solidFill>
              </a:rPr>
              <a:t>text only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09760" y="2834640"/>
            <a:ext cx="2103120" cy="640080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55480" y="29260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1E2E"/>
                </a:solidFill>
              </a:rPr>
              <a:t>IMAGE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0" y="379476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4C7EC"/>
                </a:solidFill>
              </a:rPr>
              <a:t>N = 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657600"/>
            <a:ext cx="2103120" cy="640080"/>
          </a:xfrm>
          <a:prstGeom prst="rect">
            <a:avLst/>
          </a:prstGeom>
          <a:solidFill>
            <a:srgbClr val="3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374903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DD"/>
                </a:solidFill>
              </a:rPr>
              <a:t>text only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51760" y="3657600"/>
            <a:ext cx="2103120" cy="640080"/>
          </a:xfrm>
          <a:prstGeom prst="rect">
            <a:avLst/>
          </a:prstGeom>
          <a:solidFill>
            <a:srgbClr val="3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97479" y="374903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DD"/>
                </a:solidFill>
              </a:rPr>
              <a:t>text only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3657600"/>
            <a:ext cx="2103120" cy="640080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83480" y="374903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1E2E"/>
                </a:solidFill>
              </a:rPr>
              <a:t>IMAGE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223760" y="3657600"/>
            <a:ext cx="2103120" cy="640080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69480" y="374903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1E2E"/>
                </a:solidFill>
              </a:rPr>
              <a:t>IMAGE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509760" y="3657600"/>
            <a:ext cx="2103120" cy="640080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555480" y="374903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1E2E"/>
                </a:solidFill>
              </a:rPr>
              <a:t>IMAGE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0" y="46177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4C7EC"/>
                </a:solidFill>
              </a:rPr>
              <a:t>N = 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4480560"/>
            <a:ext cx="2103120" cy="640080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1480" y="45720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1E2E"/>
                </a:solidFill>
              </a:rPr>
              <a:t>IMAGE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51760" y="4480560"/>
            <a:ext cx="2103120" cy="640080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697479" y="45720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1E2E"/>
                </a:solidFill>
              </a:rPr>
              <a:t>IMAGE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937760" y="4480560"/>
            <a:ext cx="2103120" cy="640080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83480" y="45720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1E2E"/>
                </a:solidFill>
              </a:rPr>
              <a:t>IMAGE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223760" y="4480560"/>
            <a:ext cx="2103120" cy="640080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269480" y="45720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1E2E"/>
                </a:solidFill>
              </a:rPr>
              <a:t>IMAGE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509760" y="4480560"/>
            <a:ext cx="2103120" cy="640080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555480" y="45720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1E2E"/>
                </a:solidFill>
              </a:rPr>
              <a:t>IMAGE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5760" y="53492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38BA8"/>
                </a:solidFill>
              </a:rPr>
              <a:t>For N=7 or N=10, since this user only has 5 items, ALL 5 items get images — N is capped at actual history length.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5897880"/>
            <a:ext cx="11247120" cy="68580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8640" y="596188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Key point: the model always sees the same history titles and CF embeddings. N only controls how many of those history items also carry a product image.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74C7EC"/>
                </a:solidFill>
              </a:rPr>
              <a:t>What the Model Actually Sees — Example Prompts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DD"/>
                </a:solidFill>
              </a:rPr>
              <a:t>Same user, same history titles, only image attachment differs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5394960" cy="521208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4C7EC"/>
                </a:solidFill>
              </a:rPr>
              <a:t>N = 1  (1 image)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FFFFFF"/>
                </a:solidFill>
                <a:latin typeface="Courier New"/>
              </a:rPr>
              <a:t>[UserRep] is a user representation.
This user has bought
  Moisturiser [HistoryEmb],
  Eye Cream [HistoryEmb],
  Face Serum [HistoryEmb],
  Lip Gloss [HistoryEmb],
  Hand Cream [HistoryEmb] &lt;image&gt;
Recommend one next item from
  {20 candidates}.
The recommendation is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325880"/>
            <a:ext cx="5394960" cy="521208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3716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6E3A1"/>
                </a:solidFill>
              </a:rPr>
              <a:t>N = 3  (3 images)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874519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FFFFFF"/>
                </a:solidFill>
                <a:latin typeface="Courier New"/>
              </a:rPr>
              <a:t>[UserRep] is a user representation.
This user has bought
  Moisturiser [HistoryEmb],
  Eye Cream [HistoryEmb],
  Face Serum [HistoryEmb] &lt;image&gt;,
  Lip Gloss [HistoryEmb] &lt;image&gt;,
  Hand Cream [HistoryEmb] &lt;image&gt;
Recommend one next item from
  {20 candidates}.
The recommendation 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CCCCDD"/>
                </a:solidFill>
              </a:rPr>
              <a:t>&lt;image&gt; = product image token processed by the vision encoder  |  [HistoryEmb] = CF embedding injected at this position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74C7EC"/>
                </a:solidFill>
              </a:rPr>
              <a:t>Results: HR@1 Across Image Counts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DD"/>
                </a:solidFill>
              </a:rPr>
              <a:t>Luxury_Beauty — 9,912 test users — same users in every experiment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5596128"/>
            <a:ext cx="10058400" cy="9144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545896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DD"/>
                </a:solidFill>
              </a:rPr>
              <a:t>56%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901184"/>
            <a:ext cx="10058400" cy="9144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4764024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DD"/>
                </a:solidFill>
              </a:rPr>
              <a:t>58%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4206240"/>
            <a:ext cx="10058400" cy="9144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4069079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DD"/>
                </a:solidFill>
              </a:rPr>
              <a:t>60%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511296"/>
            <a:ext cx="10058400" cy="9144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3374136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DD"/>
                </a:solidFill>
              </a:rPr>
              <a:t>62%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2816352"/>
            <a:ext cx="10058400" cy="9144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79" y="267919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DD"/>
                </a:solidFill>
              </a:rPr>
              <a:t>64%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47800" y="4633630"/>
            <a:ext cx="1371600" cy="1309969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47800" y="422215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DD"/>
                </a:solidFill>
              </a:rPr>
              <a:t>58.77%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47800" y="59893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N=1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52800" y="4737872"/>
            <a:ext cx="1371600" cy="1205727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52800" y="432639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DD"/>
                </a:solidFill>
              </a:rPr>
              <a:t>58.47%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52800" y="59893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N=3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57800" y="3334085"/>
            <a:ext cx="1371600" cy="2609514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57800" y="2922605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A6E3A1"/>
                </a:solidFill>
              </a:rPr>
              <a:t>62.51%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57800" y="59893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N=5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62800" y="3466124"/>
            <a:ext cx="1371600" cy="2477475"/>
          </a:xfrm>
          <a:prstGeom prst="rect">
            <a:avLst/>
          </a:prstGeom>
          <a:solidFill>
            <a:srgbClr val="74C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62800" y="305464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4C7EC"/>
                </a:solidFill>
              </a:rPr>
              <a:t>62.13%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62800" y="59893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N=7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67800" y="4122846"/>
            <a:ext cx="1371600" cy="1820753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67800" y="371136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DD"/>
                </a:solidFill>
              </a:rPr>
              <a:t>60.24%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67800" y="59893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N=10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7720" y="22860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A6E3A1"/>
                </a:solidFill>
              </a:rPr>
              <a:t>▲ Peak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6217920"/>
            <a:ext cx="11247120" cy="45720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628192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The comparison is valid — all 5 bars represent the same 9,912 users evaluated with the same test items.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74C7EC"/>
                </a:solidFill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DD"/>
                </a:solidFill>
              </a:rPr>
              <a:t>Answers to both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11247120" cy="141732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4475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4C7EC"/>
                </a:solidFill>
              </a:rPr>
              <a:t>Q1 — Raw data size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74519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Luxury_Beauty starts with 494,621 interactions from 358,608 users. After the threshold=4 filter (user AND item must both have ≥4 interactions), 97.2% of users are dropped, leaving 9,930 users and 9,912 test samples.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971800"/>
            <a:ext cx="11247120" cy="141732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04495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6E3A1"/>
                </a:solidFill>
              </a:rPr>
              <a:t>Q2 — Same users across all experiments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747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N=1, 3, 5, 7 and 10 all evaluate on the identical 9,912 users with the same ground-truth items. N controls how many of the most recent history items carry a product image. No users are filtered out based on 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572000"/>
            <a:ext cx="11247120" cy="141732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64515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E2AF"/>
                </a:solidFill>
              </a:rPr>
              <a:t>Why performance peaks at N=5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0749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The median user history is only 5 items. At N=5 the model receives as many real product images as most users have in their history. Beyond N=5, users with short histories have no more real images to contribute — they have already reached their history ceiling.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CCCCDD"/>
                </a:solidFill>
              </a:rPr>
              <a:t>Luxury_Beauty  |  9,912 test users  |  SmolVLM2-2.2B  |  HR@1 metric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